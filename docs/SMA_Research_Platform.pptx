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OPEN-SOURCE FORSCHUNGSPLATTFORM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</a:pPr>
            <a:r>
              <a:rPr sz="5200" b="1">
                <a:solidFill>
                  <a:srgbClr val="E8E8E8"/>
                </a:solidFill>
                <a:latin typeface="Calibri"/>
              </a:rPr>
              <a:t>SMA Research
</a:t>
            </a:r>
            <a:r>
              <a:rPr sz="5200" b="1">
                <a:solidFill>
                  <a:srgbClr val="00D4AA"/>
                </a:solidFill>
                <a:latin typeface="Calibr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Evidenz-basierte Wirkstoffforschung für Spinale Muskelatrophie — von der automatisierten Literaturanalyse über Splice-Variant-Prediction bis zur Breakthrough-Signal-Detektion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93776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D4AA"/>
                </a:solidFill>
                <a:latin typeface="Consolas"/>
              </a:defRPr>
            </a:pPr>
            <a:r>
              <a:t>EVIDENCE-FIRST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93776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4A9EFF"/>
                </a:solidFill>
                <a:latin typeface="Consolas"/>
              </a:defRPr>
            </a:pPr>
            <a:r>
              <a:t>5.216 QUELLEN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493776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D700"/>
                </a:solidFill>
                <a:latin typeface="Consolas"/>
              </a:defRPr>
            </a:pPr>
            <a:r>
              <a:t>220+ HYPOTHESEN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59" y="493776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888888"/>
                </a:solidFill>
                <a:latin typeface="Consolas"/>
              </a:defRPr>
            </a:pPr>
            <a:r>
              <a:t>21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3776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4757"/>
                </a:solidFill>
                <a:latin typeface="Consolas"/>
              </a:defRPr>
            </a:pPr>
            <a:r>
              <a:t>23.000+ CLAIMS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27432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Warum diese </a:t>
            </a:r>
            <a:r>
              <a:rPr sz="3200" b="1">
                <a:solidFill>
                  <a:srgbClr val="00D4AA"/>
                </a:solidFill>
                <a:latin typeface="Calibri"/>
              </a:rPr>
              <a:t>Plattform?</a:t>
            </a:r>
            <a:r>
              <a:rPr sz="3200" b="1">
                <a:solidFill>
                  <a:srgbClr val="E8E8E8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SMA-Forschungsdaten sind über Hunderte von Datenbanken, Papers und Registern fragmentiert. Kein einzelner Forscher kann die gesamte Evidenz überblicken. Diese Plattform aggregiert, strukturiert und priorisiert die globale SMA-Evidenz automatisiert — damit kein vielversprechender Ansatz übersehen wird.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Entwickelt von einem SMA-Betroffenen. Biology-first. Keine Marketingversprechen. Jede Aussage rückverfolgbar zur Primärquelle.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KRANKHEITSBILD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Spinale Muskelatrophie </a:t>
            </a:r>
            <a:r>
              <a:rPr sz="3200" b="1">
                <a:solidFill>
                  <a:srgbClr val="00D4AA"/>
                </a:solidFill>
                <a:latin typeface="Calibri"/>
              </a:rPr>
              <a:t>(SMA)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493776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4757"/>
                </a:solidFill>
                <a:latin typeface="Calibri"/>
              </a:defRPr>
            </a:pPr>
            <a:r>
              <a:t>Ursache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Homozygote Deletion/Mutation des SMN1-Gens auf Chromosom 5q13. Verlust des SMN-Proteins führt zur Degeneration der Motoneuronen.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011680"/>
            <a:ext cx="493776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Modifier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SMN2-Kopienzahl bestimmt den Schweregrad. C-zu-T-Änderung in Exon 7 verursacht ~90% Exon-Skipping → nur ~10% funktionelles SMN-Protein.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493776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EFF"/>
                </a:solidFill>
                <a:latin typeface="Calibri"/>
              </a:defRPr>
            </a:pPr>
            <a:r>
              <a:t>Prävalenz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~1:10.000 Geburten. Häufigste genetische Todesursache im Kindesalter. Trägerfrequenz: 1:35–1:50 in der Bevölkerung.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114800"/>
            <a:ext cx="493776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251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Therapien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61772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3 zugelassen: Nusinersen (ASO), Risdiplam (oral), Onasemnogene (Gentherapie). Heilung gibt es nicht.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Evidence-First </a:t>
            </a:r>
            <a:r>
              <a:rPr sz="3200" b="1">
                <a:solidFill>
                  <a:srgbClr val="4A9EFF"/>
                </a:solidFill>
                <a:latin typeface="Calibri"/>
              </a:rP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81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13232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1.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PubMed, ClinicalTrials.gov, bioRxiv/medRxiv, Google Patents, STRING, KEGG, ChEMBL, UniProt, AlphaFold → 5.216 Quellen, 449 Studien, 578 Patente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3810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713232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4A9EFF"/>
                </a:solidFill>
                <a:latin typeface="Consolas"/>
              </a:defRPr>
            </a:pPr>
            <a:r>
              <a:t>2. LLM Claim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LLM extrahiert strukturierte Aussagen aus Abstracts &amp; Patenten → 23.000+ Claims in 12 Typen, SMA-Relevanz-Scoring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81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713232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D700"/>
                </a:solidFill>
                <a:latin typeface="Consolas"/>
              </a:defRPr>
            </a:pPr>
            <a:r>
              <a:t>3. Hypothesis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Mechanistische Hypothesenkarten aus Evidenz-Konvergenz → 220+ Hypothesen in 3 Tiers mit Experimental-Vorschlägen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2079"/>
            <a:ext cx="381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212079"/>
            <a:ext cx="713232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85231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4. Auto-Discovery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39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Claim-Spike-Detektion, Hypothesen-Konfirmation, Novel-Target-Identifikation → Breakthrough-Signale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47472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Backend: Python / 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Database: PostgreSQL (asyncpg)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832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NLP/LLM: Claim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8404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ML: ESM-2 (HuggingFace)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APIs: NCBI, STRING, KEGG, ChEMBL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Frontend: Vanilla JS SPA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2120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API: ~155 REST Endpoints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PLATTFORM-STATUS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Die Zahlen </a:t>
            </a:r>
            <a:r>
              <a:rPr sz="3200" b="1">
                <a:solidFill>
                  <a:srgbClr val="00D4AA"/>
                </a:solidFill>
                <a:latin typeface="Calibri"/>
              </a:rPr>
              <a:t>sprechen</a:t>
            </a:r>
            <a:r>
              <a:rPr sz="3200" b="1">
                <a:solidFill>
                  <a:srgbClr val="E8E8E8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D4AA"/>
                </a:solidFill>
                <a:latin typeface="Consolas"/>
              </a:defRPr>
            </a:pPr>
            <a:r>
              <a:t>5.216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QUELLEN (PAPERS + PATENTE)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4A9EFF"/>
                </a:solidFill>
                <a:latin typeface="Consolas"/>
              </a:defRPr>
            </a:pPr>
            <a:r>
              <a:t>23.000+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EXTRAHIERTE CLAIMS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D700"/>
                </a:solidFill>
                <a:latin typeface="Consolas"/>
              </a:defRPr>
            </a:pPr>
            <a:r>
              <a:t>220+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HYPOTHESEN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10312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A78BFA"/>
                </a:solidFill>
                <a:latin typeface="Consolas"/>
              </a:defRPr>
            </a:pPr>
            <a:r>
              <a:t>449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108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KLINISCHE STUDIEN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4757"/>
                </a:solidFill>
                <a:latin typeface="Consolas"/>
              </a:defRPr>
            </a:pPr>
            <a:r>
              <a:t>578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SMA-PATENTE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11480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29768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A78BFA"/>
                </a:solidFill>
                <a:latin typeface="Consolas"/>
              </a:defRPr>
            </a:pPr>
            <a:r>
              <a:t>7/7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120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ALPHAFOLD-STRUKTUREN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D700"/>
                </a:solidFill>
                <a:latin typeface="Consolas"/>
              </a:defRPr>
            </a:pPr>
            <a:r>
              <a:t>21.228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120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GESCREENTE MOLEKÜLE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114800"/>
            <a:ext cx="2468880" cy="164592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29768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4A9EFF"/>
                </a:solidFill>
                <a:latin typeface="Consolas"/>
              </a:defRPr>
            </a:pPr>
            <a: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120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MCP-SERVER-TOOLS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Stand: März 2026 — automatisierte tägliche Aktualisierung via Cron um 06:00 UTC. Alle Daten öffentlich auf HuggingFace: SMAResearch/sma-evidence-graph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DATENQUELLEN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Integrierte </a:t>
            </a:r>
            <a:r>
              <a:rPr sz="3200" b="1">
                <a:solidFill>
                  <a:srgbClr val="4A9EFF"/>
                </a:solidFill>
                <a:latin typeface="Calibri"/>
              </a:rPr>
              <a:t>Datenbanken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PubMed / NCBI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4.582 Papers — 250+ spezialisierte SMA-Queries über 14 Kategorien, Biopython Entrez API, täglicher Pull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383280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214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EFF"/>
                </a:solidFill>
                <a:latin typeface="Calibri"/>
              </a:defRPr>
            </a:pPr>
            <a:r>
              <a:t>ClinicalTrials.gov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449 Studien + 56 Trial-Ergebnisse — REST v2 API, Outcome Measures, Adverse Events, Participant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383280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1214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4757"/>
                </a:solidFill>
                <a:latin typeface="Calibri"/>
              </a:defRPr>
            </a:pPr>
            <a:r>
              <a:t>Google Patents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46888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578 SMA-Patente — Gene Therapy, ASOs, Splicing Modifier, Small Molecules. Pharma-Daten die nie publiziert werden.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3383280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159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AlphaFold / UniProt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7/7 SMA-Proteinstrukturen mit pLDDT-Scores. SMN1, SMN2, PLS3, STMN2, NCALD, UBA1, CORO1C — 3D-Faltungsdaten.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06240"/>
            <a:ext cx="3383280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3159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STRING / KEGG / ChEMBL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66344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Protein-Interaktionen, Pathway-Daten, Compound-Bioaktivität — 428 Knowledge-Graph Edges über 34 Beziehungstypen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206240"/>
            <a:ext cx="3383280" cy="1920240"/>
          </a:xfrm>
          <a:prstGeom prst="rect">
            <a:avLst/>
          </a:prstGeom>
          <a:solidFill>
            <a:srgbClr val="161616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3159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88888"/>
                </a:solidFill>
                <a:latin typeface="Calibri"/>
              </a:defRPr>
            </a:pPr>
            <a:r>
              <a:t>bioRxiv + GEO / 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40"/>
            <a:ext cx="31089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Preprint-Scanner + 7 kuratierte Omics-Datasets — täglicher Scan, Transkriptom, Proteom, Spatial Omics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KERNMECHANISMUS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LLM-basierte </a:t>
            </a:r>
            <a:r>
              <a:rPr sz="3200" b="1">
                <a:solidFill>
                  <a:srgbClr val="00D4AA"/>
                </a:solidFill>
                <a:latin typeface="Calibri"/>
              </a:rPr>
              <a:t>Claim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Jedes Paper-Abstract wird durch ein LLM analysiert. Es extrahiert strukturierte Claims — faktische Aussagen über Gene, Proteine, Wirkstoffe und Mechanismen — und weist jedem Claim einen von 12 Typen und einen Konfidenzwert zu.</a:t>
            </a:r>
            <a:br/>
            <a:br/>
            <a:r>
              <a:t>Anschließend Re-Scoring aller 23.000+ Claims für SMA-Relevanz (unterscheidet z.B. SMA/Spinale Muskelatrophie von α-SMA/Smooth Muscle Actin).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011680"/>
            <a:ext cx="365760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21031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4A9EFF"/>
                </a:solidFill>
                <a:latin typeface="Consolas"/>
              </a:defRPr>
            </a:pPr>
            <a:r>
              <a:t>12 CLAIM-TYPEN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5603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gene_expression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852927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protein_interaction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145536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pathway_membership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438144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drug_target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730752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drug_efficacy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biomarker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315968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splicing_event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608576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neuroprotection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01183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motor_function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193792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survival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48640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779008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other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21 molekulare </a:t>
            </a:r>
            <a:r>
              <a:rPr sz="3200" b="1">
                <a:solidFill>
                  <a:srgbClr val="00D4AA"/>
                </a:solidFill>
                <a:latin typeface="Calibri"/>
              </a:rPr>
              <a:t>Zielstrukturen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555555"/>
                </a:solidFill>
                <a:latin typeface="Consolas"/>
              </a:defRPr>
            </a:pPr>
            <a:r>
              <a:t>SYMBOL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116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555555"/>
                </a:solidFill>
                <a:latin typeface="Consolas"/>
              </a:defRPr>
            </a:pPr>
            <a: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555555"/>
                </a:solidFill>
                <a:latin typeface="Consolas"/>
              </a:defRPr>
            </a:pPr>
            <a:r>
              <a:t>TYP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555555"/>
                </a:solidFill>
                <a:latin typeface="Consolas"/>
              </a:defRPr>
            </a:pPr>
            <a:r>
              <a:t>ROLLE IN SMA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607040" cy="25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D4AA"/>
                </a:solidFill>
                <a:latin typeface="Consolas"/>
              </a:defRPr>
            </a:pPr>
            <a:r>
              <a:t>SMN1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68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Survival Motor Neuron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4688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Primärgen — fehlt bei SMA-Patienten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D4AA"/>
                </a:solidFill>
                <a:latin typeface="Consolas"/>
              </a:defRPr>
            </a:pPr>
            <a:r>
              <a:t>SMN2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Survival Motor Neuron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718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718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Kopienzahl = Schweregrad-Modifier, Therapie-Target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EFF"/>
                </a:solidFill>
                <a:latin typeface="Consolas"/>
              </a:defRPr>
            </a:pPr>
            <a:r>
              <a:t>STMN2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74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Stathmin-2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7472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4747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Axonales Wachstum, herunterreguliert in SMA-MNs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88888"/>
                </a:solidFill>
                <a:latin typeface="Consolas"/>
              </a:defRPr>
            </a:pPr>
            <a:r>
              <a:t>PLS3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77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Plastin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97764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Actin-Bundling, natürlicher Severity-Modifier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88888"/>
                </a:solidFill>
                <a:latin typeface="Consolas"/>
              </a:defRPr>
            </a:pPr>
            <a:r>
              <a:t>NCALD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480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Neurocalcin Delta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4805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48056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Calcium-Sensor, Knockdown rettet SMA-Phänotyp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88888"/>
                </a:solidFill>
                <a:latin typeface="Consolas"/>
              </a:defRPr>
            </a:pPr>
            <a:r>
              <a:t>UBA1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983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Ubiquitin-Aktivierungsenzym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9834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98348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Ubiquitin-Homöostase, dysreguliert in SMA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86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CORO1C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486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Coronin-1C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48640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4864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Zytoskelett-Regulation an der NMJ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+ 14 weitere: SMN_PROTEIN, MTOR_PATHWAY, NMJ_MATURATION, ANK3, CAST, CD44, GALNT6...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NEUES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Splice Variant </a:t>
            </a:r>
            <a:r>
              <a:rPr sz="3200" b="1">
                <a:solidFill>
                  <a:srgbClr val="00D4AA"/>
                </a:solidFill>
                <a:latin typeface="Calibri"/>
              </a:rPr>
              <a:t>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Vorhersage der Auswirkungen von SMN2-Sequenzvarianten auf Splicing und Proteinfunktion. Kombiniert regelbasierte Splice-Site-Analyse für Exon 7 mit ESM-2 Protein Language Model (via HuggingFace Inference API).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64008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GET /splice/predict?variant=c.6T&gt;C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Die kritische SMN1/SMN2-Differenz → +85% Exon-7-Inklusion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64008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GET /splice/predict?variant=p.K42R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79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Protein-Level-Variante → ESM-2 Log-Likelihood Ratio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64008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POST /splice/batch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Batch-Analyse bis 50 Varianten in einem API-Call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32120"/>
            <a:ext cx="64008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GET /splice/known-variants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6035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Kuratierte Liste bekannter SMN2-Varianten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011680"/>
            <a:ext cx="4114800" cy="438912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0312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D700"/>
                </a:solidFill>
                <a:latin typeface="Consolas"/>
              </a:defRPr>
            </a:pPr>
            <a:r>
              <a:t>REGULATORISCHE ELEMENTE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603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4757"/>
                </a:solidFill>
                <a:latin typeface="Calibri"/>
              </a:defRPr>
            </a:pPr>
            <a:r>
              <a:t>Pos. 6: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560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ESS — verursacht ~90% Exon-7-Skipping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2004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ISS-N1: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2004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Nusinersen-Bindungsstelle in Intron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4047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4A9EFF"/>
                </a:solidFill>
                <a:latin typeface="Calibri"/>
              </a:defRPr>
            </a:pPr>
            <a:r>
              <a:t>SF2/ASF: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840479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ESE-Bindungsstelle Pos. 1–7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480559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Element 1: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480559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hnRNP A1 Silencer Pos. 23–27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1206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888888"/>
                </a:solidFill>
                <a:latin typeface="Calibri"/>
              </a:defRPr>
            </a:pPr>
            <a:r>
              <a:t>5' SS: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1206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Risdiplam-Zielregion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BREAKTHROUGH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Auto-Discovery </a:t>
            </a:r>
            <a:r>
              <a:rPr sz="3200" b="1">
                <a:solidFill>
                  <a:srgbClr val="FFD700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Automatische Erkennung von Durchbruch-Signalen durch Kreuzreferenzierung neuer Claims mit bestehenden Hypothesen und Evidenz. Drei komplementäre Detektoren: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383280" cy="2926080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38328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4757"/>
                </a:solidFill>
                <a:latin typeface="Calibri"/>
              </a:defRPr>
            </a:pPr>
            <a:r>
              <a:t>Claim Spikes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Plötzliche Zunahme von Claims für ein Target vs. monatliche Baseline. Signalisiert aktives Forschungsinteresse.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463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4757"/>
                </a:solidFill>
                <a:latin typeface="Consolas"/>
              </a:defRPr>
            </a:pPr>
            <a:r>
              <a:t>21 SPIKES ERKANNT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3383280" cy="292608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3832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Hypothesen-Konfirmation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Neue Claims, die bestehende Hypothesen bestätigen oder widerlegen. Stärke-Score aus Konfidenz × Quellenanzahl.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8463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D4AA"/>
                </a:solidFill>
                <a:latin typeface="Consolas"/>
              </a:defRPr>
            </a:pPr>
            <a:r>
              <a:t>220 KONFIRMATIONEN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3383280" cy="292608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743200"/>
            <a:ext cx="33832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9260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Novel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29184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Targets mit Claims aber ohne Hypothesen — potenzielle Entdeckungen, die noch nicht formalisiert sind.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8463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D700"/>
                </a:solidFill>
                <a:latin typeface="Consolas"/>
              </a:defRPr>
            </a:pPr>
            <a:r>
              <a:t>AUTOMATISIERT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Composite Scoring: Novelty × 0.3 + Convergence × 0.4 + Impact × 0.3. Top-50 Signale werden persistiert.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Computational </a:t>
            </a:r>
            <a:r>
              <a:rPr sz="3200" b="1">
                <a:solidFill>
                  <a:srgbClr val="A78BFA"/>
                </a:solidFill>
                <a:latin typeface="Calibri"/>
              </a:rPr>
              <a:t>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21.228 Moleküle aus ChEMBL gescreent gegen SMA-Targets. Mehrstufiges Filter-System für Drug-Likeness: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888888"/>
                </a:solidFill>
                <a:latin typeface="Consolas"/>
              </a:defRPr>
            </a:pPr>
            <a:r>
              <a:t>Lipinski-konform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816352"/>
            <a:ext cx="5029200" cy="182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2816352"/>
            <a:ext cx="3922776" cy="1828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888888"/>
                </a:solidFill>
                <a:latin typeface="Consolas"/>
              </a:defRPr>
            </a:pPr>
            <a:r>
              <a:t>BBB-permeabel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456432"/>
            <a:ext cx="5029200" cy="182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3456432"/>
            <a:ext cx="2263140" cy="1828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3832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888888"/>
                </a:solidFill>
                <a:latin typeface="Consolas"/>
              </a:defRPr>
            </a:pPr>
            <a:r>
              <a:t>CNS MPO ≥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096512"/>
            <a:ext cx="5029200" cy="182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4096512"/>
            <a:ext cx="1609344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32%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888888"/>
                </a:solidFill>
                <a:latin typeface="Consolas"/>
              </a:defRPr>
            </a:pPr>
            <a:r>
              <a:t>PAINS-frei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736592"/>
            <a:ext cx="5029200" cy="182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4736592"/>
            <a:ext cx="4576572" cy="1828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6634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888888"/>
                </a:solidFill>
                <a:latin typeface="Consolas"/>
              </a:defRPr>
            </a:pPr>
            <a:r>
              <a:t>QED ≥ 0.5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5376672"/>
            <a:ext cx="5029200" cy="182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5376672"/>
            <a:ext cx="3118104" cy="182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53035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62%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11680"/>
            <a:ext cx="3200400" cy="411480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21031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A78BFA"/>
                </a:solidFill>
                <a:latin typeface="Consolas"/>
              </a:defRPr>
            </a:pPr>
            <a:r>
              <a:t>WEITERE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56032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CRISPR/Prime 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8803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Guide-Design + Off-Target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6576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EFF"/>
                </a:solidFill>
                <a:latin typeface="Calibri"/>
              </a:defRPr>
            </a:pPr>
            <a:r>
              <a:t>AAV Capsid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9776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Tropismus + Immunogenität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54879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Molecular Docking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74919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Vorbereitet für AutoDock Vina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ANALYTISCHE TIEFE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14+ spezialisierte </a:t>
            </a:r>
            <a:r>
              <a:rPr sz="3200" b="1">
                <a:solidFill>
                  <a:srgbClr val="4A9EFF"/>
                </a:solidFill>
                <a:latin typeface="Calibri"/>
              </a:rPr>
              <a:t>Analyse-Module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Spatial 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108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6 Rückenmarkszonen, Medikamenten-Penetration, Silent Zones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38328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214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EFF"/>
                </a:solidFill>
                <a:latin typeface="Calibri"/>
              </a:defRPr>
            </a:pPr>
            <a:r>
              <a:t>NMJ Signaling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108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10 retrograde Signale, EV-Cargo, Happy-Muscle-Hypothese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011680"/>
            <a:ext cx="338328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12140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Bioelectric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468880"/>
            <a:ext cx="3108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9 Ionenkanäle, 4 Vmem-Zustände (55% rettbar), 5 Electroceuticals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338328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Digital Twin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3108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5 Kompartimente, 8 Pathways, 6 Wirkstoffe, Kombinationsoptimierung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114800"/>
            <a:ext cx="338328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22452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4757"/>
                </a:solidFill>
                <a:latin typeface="Calibri"/>
              </a:defRPr>
            </a:pPr>
            <a:r>
              <a:t>Splicing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572000"/>
            <a:ext cx="3108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10 Cross-Species Splice-Events, actionable ASO-Targets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114800"/>
            <a:ext cx="3383280" cy="1828800"/>
          </a:xfrm>
          <a:prstGeom prst="rect">
            <a:avLst/>
          </a:prstGeom>
          <a:solidFill>
            <a:srgbClr val="161616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22452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88888"/>
                </a:solidFill>
                <a:latin typeface="Calibri"/>
              </a:defRPr>
            </a:pPr>
            <a:r>
              <a:t>Federated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572000"/>
            <a:ext cx="31089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4 FL-Protokolle, 14 OMOP-Mappings, Privacy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+ Regeneration Signatures, Multisystem SMA, RNA Binding, Dual-Target Screening, Lab-OS, Translation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HYPOTHESENQUALITÄT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Mechanistische </a:t>
            </a:r>
            <a:r>
              <a:rPr sz="3200" b="1">
                <a:solidFill>
                  <a:srgbClr val="FFD700"/>
                </a:solidFill>
                <a:latin typeface="Calibri"/>
              </a:rPr>
              <a:t>Hypothesenkarten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Die Plattform generiert Hypothesenkarten auf Grant-Review-Niveau. Jede Karte enthält Mechanismus, Evidenz-Konvergenz, Widersprüche und konkrete experimentelle Vorschläge.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D700"/>
                </a:solidFill>
                <a:latin typeface="Calibri"/>
              </a:defRPr>
            </a:pPr>
            <a:r>
              <a:t>STMN2  —  Highest Confirmation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9260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FFD700"/>
                </a:solidFill>
                <a:latin typeface="Consolas"/>
              </a:defRPr>
            </a:pPr>
            <a:r>
              <a:t>73.8% Stärke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122 neue Claims aus 36 unabhängigen Quellen bestätigen STMN2 als axonalen Wachstumsregulator in SMA-Motoneuronen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Hypothesen-Struktur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Jede Hypothese definiert: Mechanism (molekularer Pfad), Evidence Convergence (unabhängige Quellen), Contradictions (Gegenargumente), Experimental Approaches (2–3 Vorschläge)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4A9EFF"/>
                </a:solidFill>
                <a:latin typeface="Calibri"/>
              </a:defRPr>
            </a:pPr>
            <a:r>
              <a:t>3 Tiers  —  220+ Hypothesen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Tier A: High-Conviction Targets mit starker Evidenz. Tier B: Promising mit Lücken. Tier C: Explorativ.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THERAPIELANDSCHAFT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16 Wirkstoffe </a:t>
            </a:r>
            <a:r>
              <a:rPr sz="3200" b="1">
                <a:solidFill>
                  <a:srgbClr val="A78BFA"/>
                </a:solidFill>
                <a:latin typeface="Calibri"/>
              </a:rPr>
              <a:t>im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Nusinersen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SPINRAZA — 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ASO — SMN2-Exon-7-Inklusion via ISS-N1 Blockade. Intrathekal.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383280" cy="22860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38328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EFF"/>
                </a:solidFill>
                <a:latin typeface="Calibri"/>
              </a:defRPr>
            </a:pPr>
            <a:r>
              <a:t>Risdiplam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EVRYSDI —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803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Small Molecule — SMN2-Splicing-Modifier via 5' Splice Site. Oral.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383280" cy="22860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33832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1945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Onasemnogene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ZOLGENSMA — 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88036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AAV9-Gentherapie — SMN1-Ersatz. Einmalige IV-Infusion.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+ 13 Pipeline-Wirkstoffe: Apitegromab (Myostatin), Taldefgrobep (GDF-8), Reldesemtiv (Troponin), Pyridostigmin (AChE), + 9 weitere in Phase 1–3 und präklinisch (Cure SMA Pipeline)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AUTOMATISIERUNG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Tägliche </a:t>
            </a:r>
            <a:r>
              <a:rPr sz="3200" b="1">
                <a:solidFill>
                  <a:srgbClr val="00D4AA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Jeden Tag um 06:00 UTC läuft ein automatisierter Cron-Job, der die gesamte Evidence-Pipeline aktualisiert: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D4AA"/>
                </a:solidFill>
                <a:latin typeface="Consolas"/>
              </a:defRPr>
            </a:pPr>
            <a:r>
              <a:t>06:00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PubMed-Pull — Neue SMA-Papers der letzten 7 Tage (250+ Queries)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105156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4A9EFF"/>
                </a:solidFill>
                <a:latin typeface="Consolas"/>
              </a:defRPr>
            </a:pPr>
            <a:r>
              <a:t>06:01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ClinicalTrials.gov — Alle SMA-Studien refreshen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105156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4757"/>
                </a:solidFill>
                <a:latin typeface="Consolas"/>
              </a:defRPr>
            </a:pPr>
            <a:r>
              <a:t>06:02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4340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bioRxiv / medRxiv — Neue SMA-Preprints scannen mit Relevanz-Scoring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79"/>
            <a:ext cx="105156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39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D700"/>
                </a:solidFill>
                <a:latin typeface="Consolas"/>
              </a:defRPr>
            </a:pPr>
            <a:r>
              <a:t>06:03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20639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Claim Extraction — LLM-basierte Analyse neuer Abstracts + Relinking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16161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97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06:05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8978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Score Refresh — Composite Scores aller Targets aktualisieren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OPEN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Offene API &amp; </a:t>
            </a:r>
            <a:r>
              <a:rPr sz="3200" b="1">
                <a:solidFill>
                  <a:srgbClr val="4A9EFF"/>
                </a:solidFill>
                <a:latin typeface="Calibri"/>
              </a:rPr>
              <a:t>Daten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64008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6035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~155 REST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6035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Targets, Claims, Hypothesen, Scoring, Screening, Splice Prediction, Discovery, Trials, Drugs, Datasets, Graph,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64008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82112"/>
            <a:ext cx="6035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4A9EFF"/>
                </a:solidFill>
                <a:latin typeface="Consolas"/>
              </a:defRPr>
            </a:pPr>
            <a:r>
              <a:t>HUGGINGFACE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6035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SMAResearch/sma-evidence-graph — 11 Tabellen als Parquet, 73.000+ Zeilen, regelmäßig aktualisiert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64008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6035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4757"/>
                </a:solidFill>
                <a:latin typeface="Consolas"/>
              </a:defRPr>
            </a:pPr>
            <a: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53712"/>
            <a:ext cx="6035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Model Context Protocol — 22 Tools für KI-Assistenten. Forscher können die gesamte SMA-Wissensbasis inkl. Patente direkt in Claude oder andere LLMs einbinden und natürlichsprachlich abfragen.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64008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6035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50992"/>
            <a:ext cx="6035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BibTeX für Zitationen, CSV für Claims/Targets, JSON-API für Integration in eigene Pipelines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011680"/>
            <a:ext cx="4114800" cy="41148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03120"/>
            <a:ext cx="37490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D4AA"/>
                </a:solidFill>
                <a:latin typeface="Consolas"/>
              </a:defRPr>
            </a:pPr>
            <a:r>
              <a:t>EXAMPLE API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6032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/targets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97180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/claims?limit=50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383279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/hypotheses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9476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/splice/predict?variant=c.6T&gt;C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0624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/discovery/spikes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1772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/discovery/confirmations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02920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/screen/compounds/results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440679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GET /export/bibtex/{target_id}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Forscher auf </a:t>
            </a:r>
            <a:r>
              <a:rPr sz="3200" b="1">
                <a:solidFill>
                  <a:srgbClr val="00D4AA"/>
                </a:solidFill>
                <a:latin typeface="Calibri"/>
              </a:rPr>
              <a:t>Steroids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Wir ersetzen keine Forscher — wir machen sie 10x schneller. Die Plattform kennt die Breite der SMA-Literatur besser als jeder Einzelne. Aber sie braucht Experten, die sagen: das hier ist relevant.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05156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D4A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Full-Text-Analyse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1635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PMC Open Access: Volltexte statt nur Abstracts. 5.000 Wörter statt 300 → 15-30 Claims pro Paper statt 3-4. Methodendetails, Negative Results, Supplementary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6060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00D4AA"/>
                </a:solidFill>
                <a:latin typeface="Consolas"/>
              </a:defRPr>
            </a:pPr>
            <a:r>
              <a:t>IN ARBEIT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05156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A9E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375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EFF"/>
                </a:solidFill>
                <a:latin typeface="Calibri"/>
              </a:defRPr>
            </a:pPr>
            <a:r>
              <a:t>Clinical Trial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56 Trial-Ergebnisse aus ClinicalTrials.gov v2 importiert: Outcome Measures, Adverse Events, Participant Flow — strukturierte Daten aus 449 Studien.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4290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4A9EFF"/>
                </a:solidFill>
                <a:latin typeface="Consolas"/>
              </a:defRPr>
            </a:pPr>
            <a:r>
              <a:t>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105156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D70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MCP für Forscher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6227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KI-Assistenten-Integration: Forscher fragen ihren Claude direkt 'Was wissen wir über UBA1?' und bekommen Antworten aus unserer Wissensbasis. 22 Tools.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2519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FFD700"/>
                </a:solidFill>
                <a:latin typeface="Consolas"/>
              </a:defRPr>
            </a:pPr>
            <a:r>
              <a:t>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105156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A78BF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834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Patent-Literatur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8523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578 SMA-Patente aus Google Patents importiert: Gene Therapy, ASOs, Splicing Modifier, Small Molecules. Claim-Extraction läuft — einzigartiger Datenvorteil.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0749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A78BFA"/>
                </a:solidFill>
                <a:latin typeface="Consolas"/>
              </a:defRPr>
            </a:pPr>
            <a:r>
              <a:t>LIVE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05156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4757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806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4757"/>
                </a:solidFill>
                <a:latin typeface="Calibri"/>
              </a:defRPr>
            </a:pPr>
            <a:r>
              <a:t>AlphaFold-Integration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1081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7/7 SMA-Proteinstrukturen mit pLDDT-Scores geladen: SMN1, SMN2, PLS3, STMN2, NCALD, UBA1, CORO1C. 3D-Faltungsdaten ergänzen ESM-2 Sequenz-Embeddings.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8978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1">
                <a:solidFill>
                  <a:srgbClr val="FF4757"/>
                </a:solidFill>
                <a:latin typeface="Consolas"/>
              </a:defRPr>
            </a:pPr>
            <a:r>
              <a:t>LIVE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DIFFERENZIERUNG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Drei Dinge, die </a:t>
            </a:r>
            <a:r>
              <a:rPr sz="3200" b="1">
                <a:solidFill>
                  <a:srgbClr val="00D4AA"/>
                </a:solidFill>
                <a:latin typeface="Calibri"/>
              </a:rPr>
              <a:t>kein anderes Tool </a:t>
            </a:r>
            <a:r>
              <a:rPr sz="3200" b="1">
                <a:solidFill>
                  <a:srgbClr val="E8E8E8"/>
                </a:solidFill>
                <a:latin typeface="Calibri"/>
              </a:rPr>
              <a:t>kann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PubMed Alerts und Semantic Scholar aggregieren Literatur. Wir gehen drei entscheidende Schritte weiter: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3291840" cy="36576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D4AA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E8E8"/>
                </a:solidFill>
                <a:latin typeface="Calibri"/>
              </a:defRPr>
            </a:pPr>
            <a:r>
              <a:t>Cross-Paper Synthese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1371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"Paper X (2019, NCALD) und Paper Y (2025, Calcium-Signaling) sagen zusammen etwas Neues aus, das keiner der beiden Autoren gesehen hat."</a:t>
            </a:r>
            <a:br/>
            <a:br/>
            <a:r>
              <a:t>23.000+ Claims gleichzeitig cross-referenziert — Verbindungen finden die kein einzelner Forscher sehen kann.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468880"/>
            <a:ext cx="3291840" cy="36576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4A9E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718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E8E8"/>
                </a:solidFill>
                <a:latin typeface="Calibri"/>
              </a:defRPr>
            </a:pPr>
            <a:r>
              <a:t>Prädiktive Evidenz-Scores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383280"/>
            <a:ext cx="137160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56616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"Evidenz-Konvergenz von 47 Claims aus 23 Quellen: Target X hat 73% Wahrscheinlichkeit für synergistischen Effekt mit Drug Y."</a:t>
            </a:r>
            <a:br/>
            <a:br/>
            <a:r>
              <a:t>Quantitative Vorhersagen basierend auf Daten, nicht Bauchgefühl. Kalibriert gegen bekannte Outcomes.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468880"/>
            <a:ext cx="3291840" cy="36576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606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D70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7180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E8E8E8"/>
                </a:solidFill>
                <a:latin typeface="Calibri"/>
              </a:defRPr>
            </a:pPr>
            <a:r>
              <a:t>MCP: KI als Co-Pilot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3383280"/>
            <a:ext cx="13716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56616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"Was wissen wir über PLS3 als Severity Modifier bei Typ-2-Patienten?" → Sofort strukturierte Antwort aus 5.216 Quellen inkl. Patente.</a:t>
            </a:r>
            <a:br/>
            <a:br/>
            <a:r>
              <a:t>22 MCP-Tools. Kein anderes Tool der Welt bietet Natural-Language-Zugriff auf die gesamte SMA-Evidenzbasis.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WARP-SPEED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Was wir </a:t>
            </a:r>
            <a:r>
              <a:rPr sz="3200" b="1">
                <a:solidFill>
                  <a:srgbClr val="FF4757"/>
                </a:solidFill>
                <a:latin typeface="Calibri"/>
              </a:rPr>
              <a:t>berechnen können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Simulationen und Berechnungen im Massenmaßstab, die im klassischen Laboralltag nicht möglich sind.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383280" cy="173736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33832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GitHub for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Gen-Edits versioniert wie Code — jede SMN2-Splice-Variante bekommt einen Hash. CRISPR/Prime-Editing-Auswirkungen simuliert, bevor sie ins Labor gehen.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77440"/>
            <a:ext cx="3383280" cy="173736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338328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EFF"/>
                </a:solidFill>
                <a:latin typeface="Calibri"/>
              </a:defRPr>
            </a:pPr>
            <a:r>
              <a:t>Agentic Swarm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Autonome KI-Agenten: Pre-Print-Scanner, Molekül-Screener, Simulations-Coder. Blackboard Architecture — ein Agent findet, der nächste screent sofort.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377440"/>
            <a:ext cx="3383280" cy="173736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377440"/>
            <a:ext cx="338328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Digital 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834640"/>
            <a:ext cx="3108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Digitaler Zwilling des SMA-Motorneurons. 1 Mio. Wirkstoff-Kombinationen in silico pro Nacht. Nur die besten 3 kommen ins Labor.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338328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338328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Open-Source Lab-OS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KI findet Molekül → Bauplan geht direkt an Synthese-Roboter (Cloud-Lab). Hypothese → Experiment → Daten → Neue Hypothese — ohne Verzögerung.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389120"/>
            <a:ext cx="3383280" cy="1554480"/>
          </a:xfrm>
          <a:prstGeom prst="rect">
            <a:avLst/>
          </a:prstGeom>
          <a:solidFill>
            <a:srgbClr val="161616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389120"/>
            <a:ext cx="338328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4757"/>
                </a:solidFill>
                <a:latin typeface="Calibri"/>
              </a:defRPr>
            </a:pPr>
            <a:r>
              <a:t>Zero-Knowledge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4632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Federated Learning: KI trainiert auf privaten Pharma-Daten, ohne dass Daten das Haus verlassen. Wissen fließt, Patente bleiben geschützt.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DER UNTERSCHIED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Klassisch vs. </a:t>
            </a:r>
            <a:r>
              <a:rPr sz="3200" b="1">
                <a:solidFill>
                  <a:srgbClr val="FF4757"/>
                </a:solidFill>
                <a:latin typeface="Calibri"/>
              </a:rPr>
              <a:t>Warp-Speed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Der Unterschied zwischen Lotto spielen und Ingenieurswesen.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555555"/>
                </a:solidFill>
                <a:latin typeface="Consola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474720" y="24688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555555"/>
                </a:solidFill>
                <a:latin typeface="Consolas"/>
              </a:defRPr>
            </a:pPr>
            <a:r>
              <a:t>TRADITIONELL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46888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4757"/>
                </a:solidFill>
                <a:latin typeface="Consolas"/>
              </a:defRPr>
            </a:pPr>
            <a:r>
              <a:t>WARP-SPEED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10789920" cy="25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789920" cy="4114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Datenauswertung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71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Manuell / Excel / SPSS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71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Autonome Agenten-Schwärme,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Wirkstoffsuche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290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Trial &amp; Error im Labor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4290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Massiv parallele In-Silico-Simulation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0789920" cy="4114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Wissensaustausch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8862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Statische PDF-Paper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Interaktiver Knowledge-Graph +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Modellierung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3434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Vereinfachte Formeln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434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Protein Language Models (ESM-2, ProtT5)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10789920" cy="4114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Splice-Analyse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00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Einzelvarianten im Labor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8006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Batch-Prediction aller Varianten in Sekunden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Hypothesenbildung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257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Literaturrecherche (Monate)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2578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Evidenz-Konvergenz in Echtzeit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669280"/>
            <a:ext cx="10789920" cy="4114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Screening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7150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Hunderte Moleküle / Jahr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7150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21.228+ Compounds mit BBB/CNS/PAINS in Minuten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172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E8E8E8"/>
                </a:solidFill>
                <a:latin typeface="Calibri"/>
              </a:defRPr>
            </a:pPr>
            <a:r>
              <a:t>Data Sharing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61722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Silos, NDAs, Vertrauen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61722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Federated Learning — Wissen fließt, Daten bleiben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ZUGANG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20"/>
              </a:lnSpc>
            </a:pPr>
            <a:r>
              <a:rPr sz="3200" b="1">
                <a:solidFill>
                  <a:srgbClr val="E8E8E8"/>
                </a:solidFill>
                <a:latin typeface="Calibri"/>
              </a:rPr>
              <a:t>Links &amp; </a:t>
            </a:r>
            <a:r>
              <a:rPr sz="3200" b="1">
                <a:solidFill>
                  <a:srgbClr val="4A9EFF"/>
                </a:solidFill>
                <a:latin typeface="Calibri"/>
              </a:rPr>
              <a:t>Ressourcen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D4AA"/>
                </a:solidFill>
                <a:latin typeface="Consolas"/>
              </a:defRPr>
            </a:pPr>
            <a:r>
              <a:t>LIVE PLATTFORM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https://sma-research.info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Interaktives Dashboard mit allen Targets, Claims, Hypothesen, Screening, Splice Predictor, 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73152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4A9EFF"/>
                </a:solidFill>
                <a:latin typeface="Consolas"/>
              </a:defRPr>
            </a:pPr>
            <a:r>
              <a:t>API DOKUMENTATION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https://sma-research.info/api/v2/docs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OpenAPI/Swagger — ~155 Endpoints, interaktiv testbar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73152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D700"/>
                </a:solidFill>
                <a:latin typeface="Consolas"/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github.com/Bryzant-Labs/sma-platform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Open Source — MIT License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731520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76672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A78BFA"/>
                </a:solidFill>
                <a:latin typeface="Consolas"/>
              </a:defRPr>
            </a:pPr>
            <a:r>
              <a:t>HUGGINGFACE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E8E8"/>
                </a:solidFill>
                <a:latin typeface="Calibri"/>
              </a:defRPr>
            </a:pPr>
            <a:r>
              <a:t>huggingface.co/datasets/SMAResearch/sma-evidence-graph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Alle Daten als Parquet — Claims, Targets, Hypothesen, Scoring, Edges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00D4AA"/>
                </a:solidFill>
                <a:latin typeface="Consolas"/>
              </a:defRPr>
            </a:pPr>
            <a:r>
              <a:t>EINLADUNG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00"/>
              </a:lnSpc>
            </a:pPr>
            <a:r>
              <a:rPr sz="4000" b="1">
                <a:solidFill>
                  <a:srgbClr val="E8E8E8"/>
                </a:solidFill>
                <a:latin typeface="Calibri"/>
              </a:rPr>
              <a:t>Was würdest </a:t>
            </a:r>
            <a:r>
              <a:rPr sz="4000" b="1">
                <a:solidFill>
                  <a:srgbClr val="00D4AA"/>
                </a:solidFill>
                <a:latin typeface="Calibri"/>
              </a:rPr>
              <a:t>Du </a:t>
            </a:r>
            <a:r>
              <a:rPr sz="4000" b="1">
                <a:solidFill>
                  <a:srgbClr val="E8E8E8"/>
                </a:solidFill>
                <a:latin typeface="Calibri"/>
              </a:rPr>
              <a:t>brauchen?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5.216 Quellen. 23.000+ extrahierte Claims. 578 Patente. 7 AlphaFold-Strukturen.</a:t>
            </a:r>
            <a:br/>
            <a:r>
              <a:t>220+ mechanistische Hypothesen. 22 MCP-Tools.</a:t>
            </a:r>
            <a:br/>
            <a:r>
              <a:t>Die Evidenzbasis steht — und wächst jeden Tag automatisch.</a:t>
            </a:r>
            <a:br/>
            <a:br/>
            <a:r>
              <a:t>Welche Daten, Analysen oder Integrationen würden diese Plattform für Deine Forschung nützlich machen?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02920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0D4AA"/>
                </a:solidFill>
                <a:latin typeface="Consolas"/>
              </a:defRPr>
            </a:pPr>
            <a:r>
              <a:t>sma-research.info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502920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888888"/>
                </a:solidFill>
                <a:latin typeface="Consolas"/>
              </a:defRPr>
            </a:pPr>
            <a:r>
              <a:t>Christian Fischer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5029200"/>
            <a:ext cx="1371600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4A9E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christian@bryzant.com — Bryzant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