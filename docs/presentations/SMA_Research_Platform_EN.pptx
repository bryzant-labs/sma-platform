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SMA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00D4AA"/>
                </a:solidFill>
                <a:latin typeface="Calibri"/>
              </a:rPr>
              <a:t>AI-Driven Drug Discovery for Spinal Muscular Atrophy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4389120"/>
            <a:ext cx="2743200" cy="36576"/>
          </a:xfrm>
          <a:prstGeom prst="rect">
            <a:avLst/>
          </a:prstGeom>
          <a:solidFill>
            <a:srgbClr val="2A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B7380"/>
                </a:solidFill>
                <a:latin typeface="Calibri"/>
              </a:rPr>
              <a:t>sma-research.info  |  Open Source  |  AGPL-3.0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The Unmet Need in SMA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SMA: #1 genetic cause of infant death — SMN1 gene loss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3 approved therapies, but no cure — adults with long-standing disease respond poorly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5,216+ papers published — no researcher can read them all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Beyond-SMN targets (PLS3, NCALD, UBA1) largely unexplored computationally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Evidence-First, AI-Driven, Open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Ingest ALL SMA literature (PubMed, patents, clinical trials)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Extract structured claims using LLMs (Claude Haiku)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Generate mechanistic hypotheses (Claude Sonnet 4.6)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Validate with GPU-accelerated structural biology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Everything traceable to source papers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Platform by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377440" cy="164592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D4AA"/>
                </a:solidFill>
                <a:latin typeface="Calibri"/>
              </a:rPr>
              <a:t>25,054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B0B8C4"/>
                </a:solidFill>
                <a:latin typeface="Calibri"/>
              </a:rPr>
              <a:t>Evidence Claims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377440" cy="164592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D4AA"/>
                </a:solidFill>
                <a:latin typeface="Calibri"/>
              </a:rPr>
              <a:t>515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788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B0B8C4"/>
                </a:solidFill>
                <a:latin typeface="Calibri"/>
              </a:rPr>
              <a:t>Hypotheses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828800"/>
            <a:ext cx="2377440" cy="164592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D4AA"/>
                </a:solidFill>
                <a:latin typeface="Calibri"/>
              </a:rPr>
              <a:t>5,216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788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B0B8C4"/>
                </a:solidFill>
                <a:latin typeface="Calibri"/>
              </a:rPr>
              <a:t>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828800"/>
            <a:ext cx="2377440" cy="164592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0116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D4AA"/>
                </a:solidFill>
                <a:latin typeface="Calibri"/>
              </a:rPr>
              <a:t>449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7889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B0B8C4"/>
                </a:solidFill>
                <a:latin typeface="Calibri"/>
              </a:rPr>
              <a:t>Clinical Trials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40"/>
            <a:ext cx="2377440" cy="164592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31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D4AA"/>
                </a:solidFill>
                <a:latin typeface="Calibri"/>
              </a:rPr>
              <a:t>21 /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09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B0B8C4"/>
                </a:solidFill>
                <a:latin typeface="Calibri"/>
              </a:rPr>
              <a:t>Targets / Drugs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749040"/>
            <a:ext cx="2377440" cy="164592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931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D4AA"/>
                </a:solidFill>
                <a:latin typeface="Calibri"/>
              </a:rPr>
              <a:t>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709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B0B8C4"/>
                </a:solidFill>
                <a:latin typeface="Calibri"/>
              </a:rPr>
              <a:t>MCP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3749040"/>
            <a:ext cx="2377440" cy="164592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931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D4AA"/>
                </a:solidFill>
                <a:latin typeface="Calibri"/>
              </a:rPr>
              <a:t>~190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709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B0B8C4"/>
                </a:solidFill>
                <a:latin typeface="Calibri"/>
              </a:rPr>
              <a:t>API Endpoints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FastAPI + PostgreSQL (asyncpg)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Claude Sonnet 4.6 for reasoning, Haiku for extraction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Vanilla JS frontend (no framework dependencies)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Docker GPU toolkit (14.7GB, PyTorch + ESM-2 + OpenMM)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NVIDIA NIM API integration (DiffDock v2.2, OpenFold3, GenMol)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From Papers to Predictions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1828800" cy="1188720"/>
          </a:xfrm>
          <a:prstGeom prst="roundRect">
            <a:avLst/>
          </a:prstGeom>
          <a:solidFill>
            <a:srgbClr val="1A1F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PubMed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&amp; Patents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25603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00D4AA"/>
                </a:solidFill>
                <a:latin typeface="Calibri"/>
              </a:rPr>
              <a:t>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103120"/>
            <a:ext cx="1828800" cy="1188720"/>
          </a:xfrm>
          <a:prstGeom prst="roundRect">
            <a:avLst/>
          </a:prstGeom>
          <a:solidFill>
            <a:srgbClr val="1A1F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Claim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25603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00D4AA"/>
                </a:solidFill>
                <a:latin typeface="Calibri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103120"/>
            <a:ext cx="1828800" cy="1188720"/>
          </a:xfrm>
          <a:prstGeom prst="roundRect">
            <a:avLst/>
          </a:prstGeom>
          <a:solidFill>
            <a:srgbClr val="1A1F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Knowledge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5603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00D4AA"/>
                </a:solidFill>
                <a:latin typeface="Calibri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103120"/>
            <a:ext cx="1828800" cy="1188720"/>
          </a:xfrm>
          <a:prstGeom prst="roundRect">
            <a:avLst/>
          </a:prstGeom>
          <a:solidFill>
            <a:srgbClr val="1A1F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Hypothesis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5603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00D4AA"/>
                </a:solidFill>
                <a:latin typeface="Calibr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2103120"/>
            <a:ext cx="1828800" cy="1188720"/>
          </a:xfrm>
          <a:prstGeom prst="roundRect">
            <a:avLst/>
          </a:prstGeom>
          <a:solidFill>
            <a:srgbClr val="1A1F26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40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GPU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AA"/>
                </a:solidFill>
                <a:latin typeface="Calibri"/>
              </a:rPr>
              <a:t>12 Claim Types:  </a:t>
            </a:r>
            <a:r>
              <a:rPr sz="1200">
                <a:solidFill>
                  <a:srgbClr val="B0B8C4"/>
                </a:solidFill>
                <a:latin typeface="Calibri"/>
              </a:rPr>
              <a:t>gene_expression, protein_interaction, drug_efficacy, splicing_event, biomarker, pathway_mechanism, clinical_outcome, motor_function, neuroprotection, muscle_physiology, smn_regulation, therapeutic_target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21 SMA Therapeutic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0698480" cy="640080"/>
          </a:xfrm>
          <a:prstGeom prst="rect">
            <a:avLst/>
          </a:prstGeom>
          <a:solidFill>
            <a:srgbClr val="1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00D4AA"/>
                </a:solidFill>
                <a:latin typeface="Calibri"/>
              </a:rPr>
              <a:t>SMN1 / SMN2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73736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Primary SMA genes — survival of motor neuron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00D4AA"/>
                </a:solidFill>
                <a:latin typeface="Calibri"/>
              </a:rPr>
              <a:t>PLS3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42316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Actin-bundling severity modifier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10698480" cy="640080"/>
          </a:xfrm>
          <a:prstGeom prst="rect">
            <a:avLst/>
          </a:prstGeom>
          <a:solidFill>
            <a:srgbClr val="1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00D4AA"/>
                </a:solidFill>
                <a:latin typeface="Calibri"/>
              </a:rPr>
              <a:t>STMN2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10896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Axonal growth regulator (TDP-43 connection)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00D4AA"/>
                </a:solidFill>
                <a:latin typeface="Calibri"/>
              </a:rPr>
              <a:t>NCALD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79476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Calcium sensor — knockdown rescues SMA in mice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34840"/>
            <a:ext cx="10698480" cy="640080"/>
          </a:xfrm>
          <a:prstGeom prst="rect">
            <a:avLst/>
          </a:prstGeom>
          <a:solidFill>
            <a:srgbClr val="1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00D4AA"/>
                </a:solidFill>
                <a:latin typeface="Calibri"/>
              </a:rPr>
              <a:t>UBA1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48056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Ubiquitin homeostasis — most druggable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22860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00D4AA"/>
                </a:solidFill>
                <a:latin typeface="Calibri"/>
              </a:rPr>
              <a:t>CORO1C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16636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Actin remodeling — discovery target for 4-AP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GPU-Accelerated Drug Discovery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Docker image: csiicf/sma-gpu-toolkit (14.7GB)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Vast.ai on-demand A100 GPUs ($0.53/hr)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Tools: DiffDock, Boltz-2, ESM-2, SpliceAI, OpenMM, Cas-OFFinder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Total GPU cost: $0.78 for entire campaign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First AI-driven virtual screening for SMA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4-Aminopyridine: Multi-Target SMA Binder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914400"/>
          </a:xfrm>
          <a:prstGeom prst="roundRect">
            <a:avLst/>
          </a:prstGeom>
          <a:solidFill>
            <a:srgbClr val="0A2A22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</a:pPr>
            <a:r>
              <a:rPr sz="1800" b="1">
                <a:solidFill>
                  <a:srgbClr val="00D4AA"/>
                </a:solidFill>
                <a:latin typeface="Calibri"/>
              </a:rPr>
              <a:t>KEY FINDING:  4-AP binds CORO1C with +0.251 confidence — strongest of ALL 378 docking pairs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926080"/>
            <a:ext cx="7772400" cy="502920"/>
          </a:xfrm>
          <a:prstGeom prst="rect">
            <a:avLst/>
          </a:prstGeom>
          <a:solidFill>
            <a:srgbClr val="2A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2926080"/>
            <a:ext cx="2560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B0B8C4"/>
                </a:solidFill>
                <a:latin typeface="Calibri"/>
              </a:rP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926080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B0B8C4"/>
                </a:solidFill>
                <a:latin typeface="Calibri"/>
              </a:rPr>
              <a:t>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926080"/>
            <a:ext cx="2560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B0B8C4"/>
                </a:solidFill>
                <a:latin typeface="Calibri"/>
              </a:rPr>
              <a:t>Note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429000"/>
            <a:ext cx="7772400" cy="502920"/>
          </a:xfrm>
          <a:prstGeom prst="rect">
            <a:avLst/>
          </a:prstGeom>
          <a:solidFill>
            <a:srgbClr val="0A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3429000"/>
            <a:ext cx="2560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0D4AA"/>
                </a:solidFill>
                <a:latin typeface="Calibri"/>
              </a:rPr>
              <a:t>CORO1C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3429000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0D4AA"/>
                </a:solidFill>
                <a:latin typeface="Calibri"/>
              </a:rPr>
              <a:t>+0.251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429000"/>
            <a:ext cx="2560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0D4AA"/>
                </a:solidFill>
                <a:latin typeface="Calibri"/>
              </a:rPr>
              <a:t>STRONGEST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3931920"/>
            <a:ext cx="7772400" cy="502920"/>
          </a:xfrm>
          <a:prstGeom prst="rect">
            <a:avLst/>
          </a:prstGeom>
          <a:solidFill>
            <a:srgbClr val="1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3931920"/>
            <a:ext cx="2560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NCALD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931920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-0.443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931920"/>
            <a:ext cx="2560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434840"/>
            <a:ext cx="2560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SMN2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434840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-0.447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434840"/>
            <a:ext cx="2560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937760"/>
            <a:ext cx="7772400" cy="502920"/>
          </a:xfrm>
          <a:prstGeom prst="rect">
            <a:avLst/>
          </a:prstGeom>
          <a:solidFill>
            <a:srgbClr val="1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4937760"/>
            <a:ext cx="2560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  <a:latin typeface="Calibri"/>
              </a:rPr>
              <a:t>SMN1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937760"/>
            <a:ext cx="2103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>-0.487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937760"/>
            <a:ext cx="2560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B0B8C4"/>
                </a:solidFill>
                <a:latin typeface="Calibri"/>
              </a:rPr>
              <a:t>Note: 4-AP is FDA-approved (multiple sclerosis) — previous SMA trial tested the WRONG mechanism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378 Docking Predictions via NVIDIA NIM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011680" cy="137160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D4AA"/>
                </a:solidFill>
                <a:latin typeface="Calibri"/>
              </a:rPr>
              <a:t>54 x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0B8C4"/>
                </a:solidFill>
                <a:latin typeface="Calibri"/>
              </a:rPr>
              <a:t>Compounds ×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737360"/>
            <a:ext cx="2011680" cy="137160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92024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D4AA"/>
                </a:solidFill>
                <a:latin typeface="Calibri"/>
              </a:rPr>
              <a:t>378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0B8C4"/>
                </a:solidFill>
                <a:latin typeface="Calibri"/>
              </a:rPr>
              <a:t>Blind Dockings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737360"/>
            <a:ext cx="2011680" cy="137160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92024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D4AA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0B8C4"/>
                </a:solidFill>
                <a:latin typeface="Calibri"/>
              </a:rPr>
              <a:t>Positive-Confidence Hits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737360"/>
            <a:ext cx="2011680" cy="137160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192024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D4AA"/>
                </a:solidFill>
                <a:latin typeface="Calibri"/>
              </a:rPr>
              <a:t>24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0B8C4"/>
                </a:solidFill>
                <a:latin typeface="Calibri"/>
              </a:rPr>
              <a:t>Total Runtime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737360"/>
            <a:ext cx="2011680" cy="137160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92024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D4AA"/>
                </a:solidFill>
                <a:latin typeface="Calibri"/>
              </a:rP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B0B8C4"/>
                </a:solidFill>
                <a:latin typeface="Calibri"/>
              </a:rPr>
              <a:t>API Cost (Free Credits)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6616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0D4AA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Only 3 of 378 pairs showed positive confidence (extremely selective)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D4AA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All 3 positive hits involve 4-Aminopyridine (4-AP)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D4AA"/>
                </a:solidFill>
                <a:latin typeface="Calibri"/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DiffDock v2.2 is 16% more accurate than v1 (NVIDIA GTC 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Differentiator #1: Cross-Paper Synthesis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B0B8C4"/>
                </a:solidFill>
                <a:latin typeface="Calibri"/>
              </a:rPr>
              <a:t>Finding connections no single researcher would spot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286000"/>
            <a:ext cx="2926080" cy="137160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D4AA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0B8C4"/>
                </a:solidFill>
                <a:latin typeface="Calibri"/>
              </a:rPr>
              <a:t>Target
Co-occurrence 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286000"/>
            <a:ext cx="2926080" cy="137160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42316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D4AA"/>
                </a:solidFill>
                <a:latin typeface="Calibri"/>
              </a:rPr>
              <a:t>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0632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0B8C4"/>
                </a:solidFill>
                <a:latin typeface="Calibri"/>
              </a:rPr>
              <a:t>Transitive Bridges
Across Papers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286000"/>
            <a:ext cx="2926080" cy="137160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42316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D4AA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0632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0B8C4"/>
                </a:solidFill>
                <a:latin typeface="Calibri"/>
              </a:rPr>
              <a:t>Claude Synthesis
Cards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114800"/>
            <a:ext cx="9418320" cy="1097280"/>
          </a:xfrm>
          <a:prstGeom prst="roundRect">
            <a:avLst/>
          </a:prstGeom>
          <a:solidFill>
            <a:srgbClr val="0A2A22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25196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D4AA"/>
                </a:solidFill>
                <a:latin typeface="Calibri"/>
              </a:rPr>
              <a:t>Example Bridge:  </a:t>
            </a:r>
            <a:r>
              <a:rPr sz="1800">
                <a:solidFill>
                  <a:srgbClr val="FFFFFF"/>
                </a:solidFill>
                <a:latin typeface="Calibri"/>
              </a:rPr>
              <a:t>SMN1  →  SMN_PROTEIN  →  NCALD  (calcium signaling bridge)</a:t>
            </a:r>
          </a:p>
          <a:p>
            <a:pPr algn="ctr">
              <a:spcBef>
                <a:spcPts val="600"/>
              </a:spcBef>
            </a:pPr>
            <a:r>
              <a:rPr sz="1300" i="1">
                <a:solidFill>
                  <a:srgbClr val="B0B8C4"/>
                </a:solidFill>
                <a:latin typeface="Calibri"/>
              </a:rPr>
              <a:t>Two papers, two labs, one AI-discovered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NVIDIA BioNeMo NIM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DiffDock v2.2: Molecular docking (16% more accurate than v1)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OpenFold3: Protein/RNA/ligand structure prediction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GenMol: De novo molecule generation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RNAPro: RNA 3D structure prediction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All via cloud API — no local GPU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De Novo Molecule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Generated 20 novel 4-AP analogs via GenMol NIM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Original 4-AP scaffold (+0.244) outperforms all analogs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The aminopyridine core IS the optimal pharmacophore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Implication: 4-AP structure is inherently suited for CORO1C binding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UBA1: Most Druggable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5 compounds in top 25 docking hits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CHEMBL1331875 (-0.089), CHEMBL1301743 (-0.100), ...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UBA1 dysregulation is a known SMA feature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Potential for ubiquitin-pathway targeted therapeutics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Systematic druggability ranking across all 21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AI Discovers: SMN1-NCALD Calcium 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754880" cy="137160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AA"/>
                </a:solidFill>
                <a:latin typeface="Calibri"/>
              </a:rPr>
              <a:t>Paper A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SMN1 loss → motor neuron degeneration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828800"/>
            <a:ext cx="4754880" cy="1371600"/>
          </a:xfrm>
          <a:prstGeom prst="roundRect">
            <a:avLst/>
          </a:prstGeom>
          <a:solidFill>
            <a:srgbClr val="1A1F26"/>
          </a:solidFill>
          <a:ln w="12700">
            <a:solidFill>
              <a:srgbClr val="2A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9659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AA"/>
                </a:solidFill>
                <a:latin typeface="Calibri"/>
              </a:rPr>
              <a:t>Paper B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NCALD-ASO treatment → rescues SMA mice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10312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D4AA"/>
                </a:solidFill>
                <a:latin typeface="Calibri"/>
              </a:rPr>
              <a:t>◀ ── 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3657600"/>
            <a:ext cx="7589520" cy="1645920"/>
          </a:xfrm>
          <a:prstGeom prst="roundRect">
            <a:avLst/>
          </a:prstGeom>
          <a:solidFill>
            <a:srgbClr val="0A2A22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379476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AA"/>
                </a:solidFill>
                <a:latin typeface="Calibri"/>
              </a:rPr>
              <a:t>AI Cross-Paper Synthesis</a:t>
            </a:r>
          </a:p>
          <a:p>
            <a:pPr algn="ctr">
              <a:spcBef>
                <a:spcPts val="800"/>
              </a:spcBef>
            </a:pPr>
            <a:r>
              <a:rPr sz="1600">
                <a:solidFill>
                  <a:srgbClr val="FFFFFF"/>
                </a:solidFill>
                <a:latin typeface="Calibri"/>
              </a:rPr>
              <a:t>Connects both through calcium signaling pathway</a:t>
            </a:r>
          </a:p>
          <a:p>
            <a:pPr algn="ctr">
              <a:spcBef>
                <a:spcPts val="400"/>
              </a:spcBef>
            </a:pPr>
            <a:r>
              <a:rPr sz="1400" i="1">
                <a:solidFill>
                  <a:srgbClr val="B0B8C4"/>
                </a:solidFill>
                <a:latin typeface="Calibri"/>
              </a:rPr>
              <a:t>Neither author saw this connection  |  Confidence: 0.52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29 MCP Tools: Natural Language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B0B8C4"/>
                </a:solidFill>
                <a:latin typeface="Calibri"/>
              </a:rPr>
              <a:t>Model Context Protocol — connecting AI assistants to live research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Any AI assistant can query the entire SMA knowledge base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"What is the evidence for PLS3 as a severity modifier?"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"Show me compounds that bind SMN2"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"What hypotheses connect NCALD to motor neuron survival?"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Full programmatic access to 25,054 claims + 515 hypotheses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Fully Open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AGPL-3.0 license — free to use, modify, and share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GitHub: github.com/Bryzant-Labs/sma-platform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HuggingFace: SMAResearch/sma-evidence-graph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Docker Hub: csiicf/sma-gpu-toolkit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All data traceable to source publications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Drug Discovery for $12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6400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GPU Compute (Vast.ai A100)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828800"/>
            <a:ext cx="2286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800" b="1">
                <a:solidFill>
                  <a:srgbClr val="00D4AA"/>
                </a:solidFill>
                <a:latin typeface="Calibri"/>
              </a:rPr>
              <a:t>$0.78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6400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NIM API Docking (378 runs)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468880"/>
            <a:ext cx="2286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800" b="1">
                <a:solidFill>
                  <a:srgbClr val="00D4AA"/>
                </a:solidFill>
                <a:latin typeface="Calibri"/>
              </a:rPr>
              <a:t>$0.00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6400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Boltz-2 + ESM-2 (A100)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108960"/>
            <a:ext cx="2286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800" b="1">
                <a:solidFill>
                  <a:srgbClr val="00D4AA"/>
                </a:solidFill>
                <a:latin typeface="Calibri"/>
              </a:rPr>
              <a:t>~$0.05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40"/>
            <a:ext cx="6400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LLM Costs (Claude)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749040"/>
            <a:ext cx="2286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800" b="1">
                <a:solidFill>
                  <a:srgbClr val="00D4AA"/>
                </a:solidFill>
                <a:latin typeface="Calibri"/>
              </a:rPr>
              <a:t>~$11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4297680"/>
            <a:ext cx="8503920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480560"/>
            <a:ext cx="6400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Total Session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480560"/>
            <a:ext cx="2286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200" b="1">
                <a:solidFill>
                  <a:srgbClr val="00D4AA"/>
                </a:solidFill>
                <a:latin typeface="Calibri"/>
              </a:rPr>
              <a:t>~$12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B0B8C4"/>
                </a:solidFill>
                <a:latin typeface="Calibri"/>
              </a:rPr>
              <a:t>Democratizing computational drug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100ns molecular dynamics simulation (OpenMM + CUDA)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Experimental validation: SPR binding assay for 4-AP / CORO1C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bioRxiv preprint: multi-target 4-AP binding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Researcher outreach: Columbia, Cure SMA, EU labs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Scale screening: 10K+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Honest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37160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All results are computational predictions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AlphaFold structures, not experimentally determined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DiffDock confidence ≠ binding affinity (Kd)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Clinical trial failure of 4-AP in SMA is real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800">
                <a:solidFill>
                  <a:srgbClr val="00D4AA"/>
                </a:solidFill>
                <a:latin typeface="Calibri"/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Experimental validation required before any therapeutic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3108960"/>
            <a:ext cx="27432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>
                <a:solidFill>
                  <a:srgbClr val="00D4AA"/>
                </a:solidFill>
                <a:latin typeface="Calibri"/>
              </a:rPr>
              <a:t>sma-research.info</a:t>
            </a:r>
          </a:p>
          <a:p>
            <a:pPr algn="ctr">
              <a:spcAft>
                <a:spcPts val="800"/>
              </a:spcAft>
            </a:pPr>
            <a:r>
              <a:rPr sz="2000">
                <a:solidFill>
                  <a:srgbClr val="00D4AA"/>
                </a:solidFill>
                <a:latin typeface="Calibri"/>
              </a:rPr>
              <a:t>christian@bryzant.com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B0B8C4"/>
                </a:solidFill>
                <a:latin typeface="Calibri"/>
              </a:rPr>
              <a:t>"Built by a researcher with SMA. Biology-first. Evidence-only."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380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